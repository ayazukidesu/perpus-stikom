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F3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731520"/>
            <a:ext cx="2560320" cy="2560320"/>
          </a:xfrm>
          <a:prstGeom prst="roundRect">
            <a:avLst>
              <a:gd name="adj" fmla="val 12000"/>
            </a:avLst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89720" y="1188720"/>
            <a:ext cx="1645920" cy="1645920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164592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200" y="3977639"/>
            <a:ext cx="274320" cy="1051560"/>
          </a:xfrm>
          <a:prstGeom prst="roundRect">
            <a:avLst>
              <a:gd name="adj" fmla="val 12000"/>
            </a:avLst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0" y="3977639"/>
            <a:ext cx="274320" cy="1463039"/>
          </a:xfrm>
          <a:prstGeom prst="roundRect">
            <a:avLst>
              <a:gd name="adj" fmla="val 12000"/>
            </a:avLst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64040" y="3977639"/>
            <a:ext cx="274320" cy="1051560"/>
          </a:xfrm>
          <a:prstGeom prst="roundRect">
            <a:avLst>
              <a:gd name="adj" fmla="val 12000"/>
            </a:avLst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66960" y="3977639"/>
            <a:ext cx="274320" cy="1463039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69880" y="3977639"/>
            <a:ext cx="274320" cy="1051560"/>
          </a:xfrm>
          <a:prstGeom prst="roundRect">
            <a:avLst>
              <a:gd name="adj" fmla="val 12000"/>
            </a:avLst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822960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D6F0EC"/>
                </a:solidFill>
                <a:latin typeface="Aptos"/>
              </a:defRPr>
            </a:pPr>
            <a:r>
              <a:t>PANDUAN TEKNIS  /  REKONSTRUKSI APLIKASI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685800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Membangun</a:t>
            </a:r>
            <a:br/>
            <a:r>
              <a:t>Perpus STIKOM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6309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0">
                <a:solidFill>
                  <a:srgbClr val="D6E1E8"/>
                </a:solidFill>
                <a:latin typeface="Aptos"/>
              </a:defRPr>
            </a:pPr>
            <a:r>
              <a:t>Langkah demi langkah dari persiapan lingkungan hingga pengujian aplikasi Flask dan MySQL.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91947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PANDUAN PEMBUATAN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35040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000" b="0">
                <a:solidFill>
                  <a:srgbClr val="B2C5D1"/>
                </a:solidFill>
                <a:latin typeface="Aptos"/>
              </a:defRPr>
            </a:pPr>
            <a:r>
              <a:t>Berdasarkan dokumentasi teknis Perpus STIKOM v6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GAMBARAN UMUM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Apa yang akan dibangun?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Aplikasi perpustakaan web dengan pemisahan role, logika bisnis, dan penyimpanan data.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73152" cy="160020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12140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Aplikasi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32888"/>
            <a:ext cx="3136392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Flask menangani URL, request, autentikasi, dan respons halaman.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65960"/>
            <a:ext cx="73152" cy="160020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2140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Database relasional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32888"/>
            <a:ext cx="3136392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MySQL menyimpan akun, katalog, transaksi, kartu, pengaturan, dan 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73152" cy="160020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12140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Antarmuka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532888"/>
            <a:ext cx="3136392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Jinja2, HTML, CSS, dan JavaScript menyajikan fitur ke pengguna.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800" b="1">
                <a:solidFill>
                  <a:srgbClr val="162C41"/>
                </a:solidFill>
                <a:latin typeface="Aptos"/>
              </a:defRPr>
            </a:pPr>
            <a:r>
              <a:t>Tiga role utama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72000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72000"/>
            <a:ext cx="73152" cy="123444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72744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Mahasiswa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138928"/>
            <a:ext cx="3136392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Mencari buku, mengajukan pinjaman, melihat kartu dan riwayat.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572000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572000"/>
            <a:ext cx="73152" cy="123444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472744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Staf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5138928"/>
            <a:ext cx="3136392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Mengelola katalog dan memproses transaksi perpustakaan.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572000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572000"/>
            <a:ext cx="73152" cy="123444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472744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Kepala perpustakaan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5138928"/>
            <a:ext cx="3136392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Administrasi, persetujuan akun, pengguna, dan pengaturan.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RENCANA PENGERJAAN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Bangun secara berurutan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Setiap tahap bergantung pada tahap sebelumnya; uji sebelum melanjutkan.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240280"/>
            <a:ext cx="438912" cy="438912"/>
          </a:xfrm>
          <a:prstGeom prst="ellipse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Siapkan alat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1828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Python, MySQL,</a:t>
            </a:r>
            <a:br/>
            <a:r>
              <a:t>virtual environment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2450592"/>
            <a:ext cx="1463040" cy="0"/>
          </a:xfrm>
          <a:prstGeom prst="line">
            <a:avLst/>
          </a:prstGeom>
          <a:ln w="254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044952" y="2240280"/>
            <a:ext cx="438912" cy="438912"/>
          </a:xfrm>
          <a:prstGeom prst="ellipse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788920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Buat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209544"/>
            <a:ext cx="1828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Impor schema.sql</a:t>
            </a:r>
            <a:br/>
            <a:r>
              <a:t>&amp; cek tabel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02152" y="2450592"/>
            <a:ext cx="1463040" cy="0"/>
          </a:xfrm>
          <a:prstGeom prst="line">
            <a:avLst/>
          </a:prstGeom>
          <a:ln w="254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12664" y="2240280"/>
            <a:ext cx="438912" cy="438912"/>
          </a:xfrm>
          <a:prstGeom prst="ellipse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788920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Konfigurasi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3209544"/>
            <a:ext cx="1828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.env, config,</a:t>
            </a:r>
            <a:br/>
            <a:r>
              <a:t>extensions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9864" y="2450592"/>
            <a:ext cx="1463040" cy="0"/>
          </a:xfrm>
          <a:prstGeom prst="line">
            <a:avLst/>
          </a:prstGeom>
          <a:ln w="254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80375" y="2240280"/>
            <a:ext cx="438912" cy="438912"/>
          </a:xfrm>
          <a:prstGeom prst="ellipse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2788920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Bangun inti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5" y="3209544"/>
            <a:ext cx="1828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Model, app,</a:t>
            </a:r>
            <a:br/>
            <a:r>
              <a:t>blueprint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37575" y="2450592"/>
            <a:ext cx="1463041" cy="0"/>
          </a:xfrm>
          <a:prstGeom prst="line">
            <a:avLst/>
          </a:prstGeom>
          <a:ln w="254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48088" y="2240280"/>
            <a:ext cx="438912" cy="438912"/>
          </a:xfrm>
          <a:prstGeom prst="ellipse">
            <a:avLst/>
          </a:prstGeom>
          <a:solidFill>
            <a:srgbClr val="1F3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788920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Fitur bisnis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3209544"/>
            <a:ext cx="1828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Auth, buku,</a:t>
            </a:r>
            <a:br/>
            <a:r>
              <a:t>peminjaman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54880"/>
            <a:ext cx="31089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754880"/>
            <a:ext cx="73152" cy="100584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910328"/>
            <a:ext cx="2724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Lanjutkan fitur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321808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Kartu, denda, laporan, pengaturan.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754880"/>
            <a:ext cx="31089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26280" y="4754880"/>
            <a:ext cx="73152" cy="100584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27448" y="4910328"/>
            <a:ext cx="2724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Selesaikan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5321808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Template, CSS, JavaScript, Excel.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754880"/>
            <a:ext cx="31089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754880"/>
            <a:ext cx="73152" cy="100584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8" y="4910328"/>
            <a:ext cx="2724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Uji &amp; jalankan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5321808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Checklist, troubleshooting, keamanan.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Siapkan lingkungan pengembangan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Target: proyek dapat menjalankan Python dan memasang dependensi tanpa konflik.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73152" cy="137160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29967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1 · Instal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41448"/>
            <a:ext cx="3044952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Gunakan Python 3.10+ dan aktifkan opsi Add Python to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74519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74519"/>
            <a:ext cx="73152" cy="137160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029967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2 · Instal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441448"/>
            <a:ext cx="3044952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Pastikan server berjalan; catat host, port, user, dan password lokal.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74519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74519"/>
            <a:ext cx="73152" cy="137160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029967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3 · Ekstrak proyek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41448"/>
            <a:ext cx="3044952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Masuk ke folder Website sebagai direktori kerja utama.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162C41"/>
                </a:solidFill>
                <a:latin typeface="Aptos"/>
              </a:defRPr>
            </a:pPr>
            <a:r>
              <a:t>Perintah terminal (Windows)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14800"/>
            <a:ext cx="10835640" cy="114300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400" b="0">
                <a:solidFill>
                  <a:srgbClr val="162C41"/>
                </a:solidFill>
                <a:latin typeface="Consolas"/>
              </a:defRPr>
            </a:pPr>
            <a:r>
              <a:t>cd Website</a:t>
            </a:r>
            <a:br/>
            <a:r>
              <a:t>python -m venv venv</a:t>
            </a:r>
            <a:br/>
            <a:r>
              <a:t>venv\Scripts\activate</a:t>
            </a:r>
            <a:br/>
            <a:r>
              <a:t>python -m pip install --upgrade pip</a:t>
            </a:r>
            <a:br/>
            <a:r>
              <a:t>pip install -r requirements.txt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486400"/>
            <a:ext cx="10835640" cy="50292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96128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263643"/>
                </a:solidFill>
                <a:latin typeface="Aptos"/>
              </a:defRPr>
            </a:pPr>
            <a:r>
              <a:t>Pastikan terminal menunjukkan environment aktif sebelum menjalankan aplikasi.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Bangun database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Skema database harus cocok dengan nama tabel dan kolom yang dipakai model serta route.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4800600" cy="960120"/>
          </a:xfrm>
          <a:prstGeom prst="roundRect">
            <a:avLst>
              <a:gd name="adj" fmla="val 12000"/>
            </a:avLst>
          </a:prstGeom>
          <a:solidFill>
            <a:srgbClr val="16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onsolas"/>
              </a:defRPr>
            </a:pPr>
            <a:r>
              <a:t>Website/schema.sql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938528"/>
            <a:ext cx="53949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0">
                <a:solidFill>
                  <a:srgbClr val="263643"/>
                </a:solidFill>
                <a:latin typeface="Aptos"/>
              </a:defRPr>
            </a:pPr>
            <a:r>
              <a:t>Jalankan melalui client MySQL atau terminal, lalu pastikan database perpustakaan_db dibuat.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108356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520440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593592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Consolas"/>
              </a:defRPr>
            </a:pPr>
            <a: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31336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5B6D7B"/>
                </a:solidFill>
                <a:latin typeface="Aptos"/>
              </a:defRPr>
            </a:pPr>
            <a:r>
              <a:t>Akun &amp; 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3520440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3593592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Consolas"/>
              </a:defRPr>
            </a:pPr>
            <a:r>
              <a:t>kartu_anggota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831336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5B6D7B"/>
                </a:solidFill>
                <a:latin typeface="Aptos"/>
              </a:defRPr>
            </a:pPr>
            <a:r>
              <a:t>Kartu anggota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20440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593592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Consolas"/>
              </a:defRPr>
            </a:pPr>
            <a:r>
              <a:t>kategori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3831336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5B6D7B"/>
                </a:solidFill>
                <a:latin typeface="Aptos"/>
              </a:defRPr>
            </a:pPr>
            <a:r>
              <a:t>Kategori buku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520440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42248" y="3593592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Consolas"/>
              </a:defRPr>
            </a:pPr>
            <a:r>
              <a:t>buku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3831336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5B6D7B"/>
                </a:solidFill>
                <a:latin typeface="Aptos"/>
              </a:defRPr>
            </a:pPr>
            <a:r>
              <a:t>Katalog &amp; stok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61688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434840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Consolas"/>
              </a:defRPr>
            </a:pPr>
            <a:r>
              <a:t>peminjaman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672584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5B6D7B"/>
                </a:solidFill>
                <a:latin typeface="Aptos"/>
              </a:defRPr>
            </a:pPr>
            <a:r>
              <a:t>Transaksi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4361688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4434840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Consolas"/>
              </a:defRPr>
            </a:pPr>
            <a:r>
              <a:t>pengaturan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672584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5B6D7B"/>
                </a:solidFill>
                <a:latin typeface="Aptos"/>
              </a:defRPr>
            </a:pPr>
            <a:r>
              <a:t>Konfigurasi bisnis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361688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434840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Consolas"/>
              </a:defRPr>
            </a:pPr>
            <a:r>
              <a:t>log_stok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72584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5B6D7B"/>
                </a:solidFill>
                <a:latin typeface="Aptos"/>
              </a:defRPr>
            </a:pPr>
            <a:r>
              <a:t>Catatan perubahan stok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D3695B"/>
                </a:solidFill>
                <a:latin typeface="Aptos"/>
              </a:defRPr>
            </a:pPr>
            <a:r>
              <a:t>Catatan: dokumentasi mengutamakan Website/schema.sql; jangan memilih skema lama tanpa verifikasi.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Konfigurasi melalui .env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Pisahkan rahasia dan konfigurasi komputer dari kode sumber.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5486400" cy="3474720"/>
          </a:xfrm>
          <a:prstGeom prst="roundRect">
            <a:avLst>
              <a:gd name="adj" fmla="val 12000"/>
            </a:avLst>
          </a:prstGeom>
          <a:solidFill>
            <a:srgbClr val="16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983480" cy="2971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onsolas"/>
              </a:defRPr>
            </a:pPr>
            <a:r>
              <a:t>DB_HOST=localhost</a:t>
            </a:r>
            <a:br/>
            <a:r>
              <a:t>DB_PORT=3306</a:t>
            </a:r>
            <a:br/>
            <a:r>
              <a:t>DB_USER=root</a:t>
            </a:r>
            <a:br/>
            <a:r>
              <a:t>DB_PASSWORD=...</a:t>
            </a:r>
            <a:br/>
            <a:r>
              <a:t>DB_NAME=perpustakaan_db</a:t>
            </a:r>
            <a:br/>
            <a:r>
              <a:t>SECRET_KEY=nilai_acak_rahasia</a:t>
            </a:r>
            <a:br/>
            <a:r>
              <a:t>UPLOAD_FOLDER=static/uploads/sampul</a:t>
            </a:r>
            <a:br/>
            <a:r>
              <a:t>MAX_CONTENT_LENGTH_MB=5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874519"/>
            <a:ext cx="4572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874519"/>
            <a:ext cx="73152" cy="109728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2029967"/>
            <a:ext cx="4187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config.py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2441448"/>
            <a:ext cx="4187952" cy="40233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Membaca environment dan menyusun konfigurasi aplikasi.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246120"/>
            <a:ext cx="4572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3246120"/>
            <a:ext cx="73152" cy="109728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3401568"/>
            <a:ext cx="4187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extensions.py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3813048"/>
            <a:ext cx="4187952" cy="40233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Mendefinisikan SQLAlchemy dan Flask-Login sebelum diinisialisasi.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86400"/>
            <a:ext cx="10835640" cy="50292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96128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263643"/>
                </a:solidFill>
                <a:latin typeface="Aptos"/>
              </a:defRPr>
            </a:pPr>
            <a:r>
              <a:t>Keamanan: Jangan membagikan .env atau memakai SECRET_KEY contoh di lingkungan nyata.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Rangkai inti aplikasi Flask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Buat integrasi inti sebelum membangun semua halaman.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4447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62C41"/>
                </a:solidFill>
                <a:latin typeface="Consolas"/>
              </a:defRPr>
            </a:pPr>
            <a:r>
              <a:t>config.py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D7B"/>
                </a:solidFill>
                <a:latin typeface="Aptos"/>
              </a:defRPr>
            </a:pPr>
            <a:r>
              <a:t>Nilai konfigurasi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2852928"/>
            <a:ext cx="22860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06040" y="233172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514600"/>
            <a:ext cx="14447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62C41"/>
                </a:solidFill>
                <a:latin typeface="Consolas"/>
              </a:defRPr>
            </a:pPr>
            <a:r>
              <a:t>extensions.py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85292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D7B"/>
                </a:solidFill>
                <a:latin typeface="Aptos"/>
              </a:defRPr>
            </a:pPr>
            <a:r>
              <a:t>Objek ekstensi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51960" y="2852928"/>
            <a:ext cx="22860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26280" y="233172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514600"/>
            <a:ext cx="14447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62C41"/>
                </a:solidFill>
                <a:latin typeface="Consolas"/>
              </a:defRPr>
            </a:pPr>
            <a:r>
              <a:t>models.py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85292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D7B"/>
                </a:solidFill>
                <a:latin typeface="Aptos"/>
              </a:defRPr>
            </a:pPr>
            <a:r>
              <a:t>Pemetaan tabel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2852928"/>
            <a:ext cx="22860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46520" y="233172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514600"/>
            <a:ext cx="14447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62C41"/>
                </a:solidFill>
                <a:latin typeface="Consolas"/>
              </a:defRPr>
            </a:pPr>
            <a:r>
              <a:t>app.py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5292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D7B"/>
                </a:solidFill>
                <a:latin typeface="Aptos"/>
              </a:defRPr>
            </a:pPr>
            <a:r>
              <a:t>Inisialisasi &amp; blueprint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92440" y="2852928"/>
            <a:ext cx="22860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66760" y="233172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514600"/>
            <a:ext cx="14447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62C41"/>
                </a:solidFill>
                <a:latin typeface="Consolas"/>
              </a:defRPr>
            </a:pPr>
            <a:r>
              <a:t>routes/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85292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D7B"/>
                </a:solidFill>
                <a:latin typeface="Aptos"/>
              </a:defRPr>
            </a:pPr>
            <a:r>
              <a:t>Logika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12680" y="2852928"/>
            <a:ext cx="22860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287000" y="233172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2514600"/>
            <a:ext cx="14447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62C41"/>
                </a:solidFill>
                <a:latin typeface="Consolas"/>
              </a:defRPr>
            </a:pPr>
            <a:r>
              <a:t>templates/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2852928"/>
            <a:ext cx="14447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D7B"/>
                </a:solidFill>
                <a:latin typeface="Aptos"/>
              </a:defRPr>
            </a:pPr>
            <a:r>
              <a:t>Halaman Jinja2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20624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206240"/>
            <a:ext cx="73152" cy="123444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36168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773168"/>
            <a:ext cx="3044952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Cocokkan kolom, tipe, key, dan relasi dengan schema.sql.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420624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4206240"/>
            <a:ext cx="73152" cy="123444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436168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App factory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4773168"/>
            <a:ext cx="3044952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Muat config, init ekstensi, user loader, lalu daftarkan blueprint.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420624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4206240"/>
            <a:ext cx="73152" cy="123444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436168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Blueprint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4773168"/>
            <a:ext cx="3044952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Pisahkan route autentikasi, buku, peminjaman, laporan, dan lainnya.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Autentikasi dan pembagian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Keamanan akses harus ditegakkan di sisi server, bukan hanya melalui tombol di halaman.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65960"/>
            <a:ext cx="73152" cy="150876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2140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Registrasi &amp;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32888"/>
            <a:ext cx="304495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Validasi data, verifikasi kredensial, simpan password sebagai hash, kelola sesi.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9659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965960"/>
            <a:ext cx="73152" cy="150876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12140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Proteksi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32888"/>
            <a:ext cx="304495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Gunakan login requirement dan pemeriksaan role pada route sensitif.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73152" cy="150876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12140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Persetujuan akun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532888"/>
            <a:ext cx="304495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Batasi tindakan persetujuan dan manajemen pengguna sesuai kewenangan.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162C41"/>
                </a:solidFill>
                <a:latin typeface="Aptos"/>
              </a:defRPr>
            </a:pPr>
            <a:r>
              <a:t>Skenario pengujian minimum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80560"/>
            <a:ext cx="10424160" cy="141732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3643"/>
                </a:solidFill>
                <a:latin typeface="Aptos"/>
              </a:defRPr>
            </a:pPr>
            <a:r>
              <a:t>•  Login valid dan tidak valid; logout mengakhiri sesi.</a:t>
            </a:r>
          </a:p>
          <a:p>
            <a:pPr>
              <a:spcAft>
                <a:spcPts val="500"/>
              </a:spcAft>
              <a:defRPr sz="1400">
                <a:solidFill>
                  <a:srgbClr val="263643"/>
                </a:solidFill>
                <a:latin typeface="Aptos"/>
              </a:defRPr>
            </a:pPr>
            <a:r>
              <a:t>•  Akun yang menunggu persetujuan mengikuti aturan aplikasi.</a:t>
            </a:r>
          </a:p>
          <a:p>
            <a:pPr>
              <a:spcAft>
                <a:spcPts val="500"/>
              </a:spcAft>
              <a:defRPr sz="1400">
                <a:solidFill>
                  <a:srgbClr val="263643"/>
                </a:solidFill>
                <a:latin typeface="Aptos"/>
              </a:defRPr>
            </a:pPr>
            <a:r>
              <a:t>•  Mahasiswa mencoba membuka URL khusus staf secara langsung.</a:t>
            </a:r>
          </a:p>
          <a:p>
            <a:pPr>
              <a:spcAft>
                <a:spcPts val="500"/>
              </a:spcAft>
              <a:defRPr sz="1400">
                <a:solidFill>
                  <a:srgbClr val="263643"/>
                </a:solidFill>
                <a:latin typeface="Aptos"/>
              </a:defRPr>
            </a:pPr>
            <a:r>
              <a:t>•  Pengguna tanpa sesi mencoba mengakses halaman privat.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Katalog buku dan kategori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Bangun katalog sebelum transaksi peminjaman karena transaksi bergantung pada data buku dan stok.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26060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4592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04288"/>
            <a:ext cx="22219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Baca &amp;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15768"/>
            <a:ext cx="2221992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Daftar buku, pencarian, detail metadata.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148840"/>
            <a:ext cx="26060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2148840"/>
            <a:ext cx="73152" cy="164592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304288"/>
            <a:ext cx="22219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715768"/>
            <a:ext cx="2221992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Tambah, ubah, hapus sesuai role dan validasi.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148840"/>
            <a:ext cx="26060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91656" y="2148840"/>
            <a:ext cx="73152" cy="164592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2304288"/>
            <a:ext cx="22219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Sampul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715768"/>
            <a:ext cx="2221992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Batasi format, ukuran, dan lokasi upload.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2148840"/>
            <a:ext cx="26060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44584" y="2148840"/>
            <a:ext cx="73152" cy="1645920"/>
          </a:xfrm>
          <a:prstGeom prst="rect">
            <a:avLst/>
          </a:prstGeom>
          <a:solidFill>
            <a:srgbClr val="1F3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304288"/>
            <a:ext cx="22219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715768"/>
            <a:ext cx="2221992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Validasi header dan nilai saat impor; ekspor data yang difilter.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43400"/>
            <a:ext cx="10744200" cy="100584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537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Prinsip utama: stok menjadi sumber ketersediaan peminjaman. Perubahan stok harus konsisten dengan transaksi dan pengembalian.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Uji: data wajib kosong • kategori tidak valid • sampul tidak diizinkan • file Excel dengan header salah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Implementasikan alur peminjaman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Aturan bisnis berada di utilitas; route mengatur request, izin, dan penyimpanan.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40280"/>
            <a:ext cx="1920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23160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87E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43200"/>
            <a:ext cx="1600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Pilih buku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36392"/>
            <a:ext cx="16002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Mahasiswa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2971800"/>
            <a:ext cx="292608" cy="0"/>
          </a:xfrm>
          <a:prstGeom prst="line">
            <a:avLst/>
          </a:prstGeom>
          <a:ln w="25400">
            <a:solidFill>
              <a:srgbClr val="DAA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2240280"/>
            <a:ext cx="1920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2423160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87E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743200"/>
            <a:ext cx="1600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Validasi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3136392"/>
            <a:ext cx="16002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Kartu, kuota,</a:t>
            </a:r>
            <a:br/>
            <a:r>
              <a:t>tunggakan, stok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971800"/>
            <a:ext cx="292608" cy="0"/>
          </a:xfrm>
          <a:prstGeom prst="line">
            <a:avLst/>
          </a:prstGeom>
          <a:ln w="25400">
            <a:solidFill>
              <a:srgbClr val="DAA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2240280"/>
            <a:ext cx="1920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2423160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87E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743200"/>
            <a:ext cx="1600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Ajukan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3136392"/>
            <a:ext cx="16002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Simpan status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78040" y="2971800"/>
            <a:ext cx="292608" cy="0"/>
          </a:xfrm>
          <a:prstGeom prst="line">
            <a:avLst/>
          </a:prstGeom>
          <a:ln w="25400">
            <a:solidFill>
              <a:srgbClr val="DAA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43800" y="2240280"/>
            <a:ext cx="1920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2423160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87E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743200"/>
            <a:ext cx="1600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Proses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3136392"/>
            <a:ext cx="16002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Staf/kepala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64040" y="2971800"/>
            <a:ext cx="292608" cy="0"/>
          </a:xfrm>
          <a:prstGeom prst="line">
            <a:avLst/>
          </a:prstGeom>
          <a:ln w="25400">
            <a:solidFill>
              <a:srgbClr val="DAA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9800" y="2240280"/>
            <a:ext cx="1920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4392" y="2423160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87E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2743200"/>
            <a:ext cx="1600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162C41"/>
                </a:solidFill>
                <a:latin typeface="Aptos"/>
              </a:defRPr>
            </a:pPr>
            <a:r>
              <a:t>Kembali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3136392"/>
            <a:ext cx="16002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Stok &amp;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389120"/>
            <a:ext cx="4754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389120"/>
            <a:ext cx="73152" cy="109728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4544568"/>
            <a:ext cx="437083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Aturan yang diperiksa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956048"/>
            <a:ext cx="4370832" cy="40233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Kartu aktif • kuota • tunggakan • stok • jatuh tempo • batas perpanjangan.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389120"/>
            <a:ext cx="4754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389120"/>
            <a:ext cx="73152" cy="109728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1968" y="4544568"/>
            <a:ext cx="437083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Konsistensi transaksi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4956048"/>
            <a:ext cx="4370832" cy="40233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Perubahan status dan stok harus berhasil bersama atau dibatalkan bersama.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Denda, kartu, dan pengaturan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Pusatkan aturan agar dapat diuji dan tidak tersebar di banyak route.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73152" cy="182880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Denda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578608"/>
            <a:ext cx="3136392" cy="1133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Hitung keterlambatan, masa tenggang, tarif per hari, pembayaran, dan status lunas.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116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011680"/>
            <a:ext cx="73152" cy="182880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6712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Kartu anggota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78608"/>
            <a:ext cx="3136392" cy="1133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Masa berlaku, status aktif, penonaktifan, dan pemeriksaan sebelum meminjam.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0116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2011680"/>
            <a:ext cx="73152" cy="182880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16712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Pengaturan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578608"/>
            <a:ext cx="3136392" cy="1133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Tarif, kuota, masa pinjam, perpanjangan, dan masa berlaku kartu.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10652760" cy="100584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80"/>
            <a:ext cx="101498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263643"/>
                </a:solidFill>
                <a:latin typeface="Aptos"/>
              </a:defRPr>
            </a:pPr>
            <a:r>
              <a:t>Nilai awal yang disebut dokumentasi: masa pinjam 7 hari, kuota 2 buku, maksimal 2 perpanjangan, denda Rp1.000/hari, masa tenggang 0 hari, kartu 365 hari. Verifikasi konfigurasi aktif.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5B6D7B"/>
                </a:solidFill>
                <a:latin typeface="Aptos"/>
              </a:defRPr>
            </a:pPr>
            <a:r>
              <a:t>Uji batas tanggal, kartu kedaluwarsa/nonaktif, pembayaran, dan role yang berwenang.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Dashboard, laporan, dan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Tampilan ringkasan dan laporan harus bersumber dari query yang benar.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73152" cy="150876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78608"/>
            <a:ext cx="304495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Ringkasan jumlah dan status; pastikan angka cocok dengan data uji.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11680"/>
            <a:ext cx="73152" cy="150876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16712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Laporan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78608"/>
            <a:ext cx="304495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Filter tanggal/status dan tangani hasil kosong dengan jelas.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73152" cy="150876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167128"/>
            <a:ext cx="3044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578608"/>
            <a:ext cx="304495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Ekspor mengikuti filter layar; impor memvalidasi header dan tipe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1">
                <a:solidFill>
                  <a:srgbClr val="162C41"/>
                </a:solidFill>
                <a:latin typeface="Aptos"/>
              </a:defRPr>
            </a:pPr>
            <a:r>
              <a:t>Alur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177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800600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62C41"/>
                </a:solidFill>
                <a:latin typeface="Aptos"/>
              </a:defRPr>
            </a:pPr>
            <a:r>
              <a:t>Database / 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6177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4800600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62C41"/>
                </a:solidFill>
                <a:latin typeface="Aptos"/>
              </a:defRPr>
            </a:pPr>
            <a:r>
              <a:t>Query + filter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6177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4800600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62C41"/>
                </a:solidFill>
                <a:latin typeface="Aptos"/>
              </a:defRPr>
            </a:pPr>
            <a:r>
              <a:t>Halaman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46177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4800600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62C41"/>
                </a:solidFill>
                <a:latin typeface="Aptos"/>
              </a:defRPr>
            </a:pPr>
            <a:r>
              <a:t>Ekspor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00400" y="4965192"/>
            <a:ext cx="59436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63640" y="4965192"/>
            <a:ext cx="59436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78240" y="4965192"/>
            <a:ext cx="548640" cy="0"/>
          </a:xfrm>
          <a:prstGeom prst="line">
            <a:avLst/>
          </a:prstGeom>
          <a:ln w="25400">
            <a:solidFill>
              <a:srgbClr val="1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Bangun template dan antarmuka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UI dibuat setelah route dan nama endpoint stabil agar tautan tidak mudah rusak.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965960"/>
            <a:ext cx="73152" cy="150876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12140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Base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532888"/>
            <a:ext cx="313639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templates/layout/base.html memuat struktur bersama dan blok konten.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65960"/>
            <a:ext cx="73152" cy="150876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2140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Template fitur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32888"/>
            <a:ext cx="313639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Halaman per fitur menggunakan data yang dikirim oleh route Flask.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96596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965960"/>
            <a:ext cx="73152" cy="150876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121408"/>
            <a:ext cx="3136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CSS &amp; 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532888"/>
            <a:ext cx="3136392" cy="8138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300" b="0">
                <a:solidFill>
                  <a:srgbClr val="5B6D7B"/>
                </a:solidFill>
                <a:latin typeface="Aptos"/>
              </a:defRPr>
            </a:pPr>
            <a:r>
              <a:t>style.css, mobile.css, dan JavaScript untuk tampilan responsif/interaksi.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10607040" cy="1097280"/>
          </a:xfrm>
          <a:prstGeom prst="roundRect">
            <a:avLst>
              <a:gd name="adj" fmla="val 12000"/>
            </a:avLst>
          </a:prstGeom>
          <a:solidFill>
            <a:srgbClr val="16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297680"/>
            <a:ext cx="100584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Route → validasi &amp; proses → render_template() → Jinja2 → HTML/CSS/JavaScript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D3695B"/>
                </a:solidFill>
                <a:latin typeface="Aptos"/>
              </a:defRPr>
            </a:pPr>
            <a:r>
              <a:t>Gunakan url_for() untuk tautan internal; jangan menaruh validasi hak akses hanya di template.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Uji sistem sebelum digunakan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Lakukan pengujian dari lapisan dasar hingga seluruh alur bisnis.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2423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Aptos"/>
              </a:defRPr>
            </a:pPr>
            <a:r>
              <a:t>Lingkungan &amp;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01952"/>
            <a:ext cx="7269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263643"/>
                </a:solidFill>
                <a:latin typeface="Aptos"/>
              </a:defRPr>
            </a:pPr>
            <a:r>
              <a:t>Server hidup; schema dan query dasar berfungsi.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41448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42032"/>
            <a:ext cx="2423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Aptos"/>
              </a:defRPr>
            </a:pPr>
            <a:r>
              <a:t>Auth &amp;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14600"/>
            <a:ext cx="7269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263643"/>
                </a:solidFill>
                <a:latin typeface="Aptos"/>
              </a:defRPr>
            </a:pPr>
            <a:r>
              <a:t>Login, logout, sesi, akses URL langsung.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54096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54679"/>
            <a:ext cx="2423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Aptos"/>
              </a:defRPr>
            </a:pPr>
            <a:r>
              <a:t>Katalog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127248"/>
            <a:ext cx="7269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263643"/>
                </a:solidFill>
                <a:latin typeface="Aptos"/>
              </a:defRPr>
            </a:pPr>
            <a:r>
              <a:t>CRUD, kategori, upload, impor Excel.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66744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67328"/>
            <a:ext cx="2423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Aptos"/>
              </a:defRPr>
            </a:pPr>
            <a:r>
              <a:t>Peminjaman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739896"/>
            <a:ext cx="7269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263643"/>
                </a:solidFill>
                <a:latin typeface="Aptos"/>
              </a:defRPr>
            </a:pPr>
            <a:r>
              <a:t>Pengajuan, persetujuan, stok, pengembalian, perpanjangan.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79392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D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79976"/>
            <a:ext cx="2423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Aptos"/>
              </a:defRPr>
            </a:pPr>
            <a:r>
              <a:t>Denda &amp; kartu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352544"/>
            <a:ext cx="7269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263643"/>
                </a:solidFill>
                <a:latin typeface="Aptos"/>
              </a:defRPr>
            </a:pPr>
            <a:r>
              <a:t>Tanggal batas, pembayaran, kartu nonaktif/kedaluwarsa.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92040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992624"/>
            <a:ext cx="2423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162C41"/>
                </a:solidFill>
                <a:latin typeface="Aptos"/>
              </a:defRPr>
            </a:pPr>
            <a:r>
              <a:t>Laporan &amp;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965192"/>
            <a:ext cx="7269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263643"/>
                </a:solidFill>
                <a:latin typeface="Aptos"/>
              </a:defRPr>
            </a:pPr>
            <a:r>
              <a:t>Filter konsisten, ekspor benar, halaman mobile terbaca.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15000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D3695B"/>
                </a:solidFill>
                <a:latin typeface="Aptos"/>
              </a:defRPr>
            </a:pPr>
            <a:r>
              <a:t>Uji juga input tidak valid, akses tanpa izin, hasil kosong, dan kegagalan database.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TAHAP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Jalankan aplikasi secara lokal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Setelah konfigurasi dan akun awal siap, nyalakan server dan buka browser.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16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75488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Consolas"/>
              </a:defRPr>
            </a:pPr>
            <a:r>
              <a:t>cd Website</a:t>
            </a:r>
            <a:br/>
            <a:r>
              <a:t>venv\Scripts\activate</a:t>
            </a:r>
            <a:br/>
            <a:r>
              <a:t>python seed_admin.py</a:t>
            </a:r>
            <a:br/>
            <a:r>
              <a:t>python app.py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46634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73152" cy="96012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121408"/>
            <a:ext cx="4279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Buka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532888"/>
            <a:ext cx="42793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400" b="0">
                <a:solidFill>
                  <a:srgbClr val="5B6D7B"/>
                </a:solidFill>
                <a:latin typeface="Aptos"/>
              </a:defRPr>
            </a:pPr>
            <a:r>
              <a:t>http://127.0.0.1:5000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154680"/>
            <a:ext cx="46634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154680"/>
            <a:ext cx="73152" cy="960120"/>
          </a:xfrm>
          <a:prstGeom prst="rect">
            <a:avLst/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310128"/>
            <a:ext cx="4279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Login akun awal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721608"/>
            <a:ext cx="42793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Gunakan kredensial yang dibuat melalui seed_admin.py.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343400"/>
            <a:ext cx="46634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4343400"/>
            <a:ext cx="73152" cy="960120"/>
          </a:xfrm>
          <a:prstGeom prst="rect">
            <a:avLst/>
          </a:prstGeom>
          <a:solidFill>
            <a:srgbClr val="D3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498848"/>
            <a:ext cx="4279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600" b="1">
                <a:solidFill>
                  <a:srgbClr val="162C41"/>
                </a:solidFill>
                <a:latin typeface="Aptos"/>
              </a:defRPr>
            </a:pPr>
            <a:r>
              <a:t>Cek fitur inti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910328"/>
            <a:ext cx="42793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Login, katalog, transaksi, kartu, laporan, dan pengaturan.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86400"/>
            <a:ext cx="10835640" cy="50292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96128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263643"/>
                </a:solidFill>
                <a:latin typeface="Aptos"/>
              </a:defRPr>
            </a:pPr>
            <a:r>
              <a:t>Catatan: Jalankan seed_admin.py setelah .env dan database siap. Jangan menganggap skrip aman diulang jika tidak dirancang idempoten.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1">
                <a:solidFill>
                  <a:srgbClr val="187E8B"/>
                </a:solidFill>
                <a:latin typeface="Aptos"/>
              </a:defRPr>
            </a:pPr>
            <a:r>
              <a:t>PEMELIHARAAN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D7B"/>
                </a:solidFill>
                <a:latin typeface="Aptos"/>
              </a:defRPr>
            </a:pPr>
            <a: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21792"/>
            <a:ext cx="11064240" cy="0"/>
          </a:xfrm>
          <a:prstGeom prst="line">
            <a:avLst/>
          </a:prstGeom>
          <a:ln w="1270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2700" b="1">
                <a:solidFill>
                  <a:srgbClr val="162C41"/>
                </a:solidFill>
                <a:latin typeface="Aptos Display"/>
              </a:defRPr>
            </a:pPr>
            <a:r>
              <a:t>Masalah umum dan keamanan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0">
                <a:solidFill>
                  <a:srgbClr val="5B6D7B"/>
                </a:solidFill>
                <a:latin typeface="Aptos"/>
              </a:defRPr>
            </a:pPr>
            <a:r>
              <a:t>Mulai diagnosis dari konfigurasi, database, dan konsistensi nama berkas.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E7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800" b="0">
                <a:solidFill>
                  <a:srgbClr val="5B6D7B"/>
                </a:solidFill>
                <a:latin typeface="Aptos"/>
              </a:defRPr>
            </a:pPr>
            <a:r>
              <a:t>PERPUS STIKOM  •  PANDUAN REKONSTRUKSI APLIKASI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162C41"/>
                </a:solidFill>
                <a:latin typeface="Aptos"/>
              </a:defRPr>
            </a:pPr>
            <a:r>
              <a:t>ModuleNotFoundError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901952"/>
            <a:ext cx="7223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263643"/>
                </a:solidFill>
                <a:latin typeface="Aptos"/>
              </a:defRPr>
            </a:pPr>
            <a:r>
              <a:t>Aktifkan venv; instal requirements.txt.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2316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162C41"/>
                </a:solidFill>
                <a:latin typeface="Aptos"/>
              </a:defRPr>
            </a:pPr>
            <a:r>
              <a:t>Koneksi MySQL gagal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96312"/>
            <a:ext cx="7223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263643"/>
                </a:solidFill>
                <a:latin typeface="Aptos"/>
              </a:defRPr>
            </a:pPr>
            <a:r>
              <a:t>Cek layanan, host, port, user, password, nama DB.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1752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162C41"/>
                </a:solidFill>
                <a:latin typeface="Aptos"/>
              </a:defRPr>
            </a:pPr>
            <a:r>
              <a:t>Tabel/kolom tidak ditemukan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090672"/>
            <a:ext cx="7223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263643"/>
                </a:solidFill>
                <a:latin typeface="Aptos"/>
              </a:defRPr>
            </a:pPr>
            <a:r>
              <a:t>Cocokkan schema.sql dengan model dan query.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1188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162C41"/>
                </a:solidFill>
                <a:latin typeface="Aptos"/>
              </a:defRPr>
            </a:pPr>
            <a:r>
              <a:t>URL tidak ditemukan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685032"/>
            <a:ext cx="7223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263643"/>
                </a:solidFill>
                <a:latin typeface="Aptos"/>
              </a:defRPr>
            </a:pPr>
            <a:r>
              <a:t>Cek blueprint, prefix, dan url_for().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0624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79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162C41"/>
                </a:solidFill>
                <a:latin typeface="Aptos"/>
              </a:defRPr>
            </a:pPr>
            <a:r>
              <a:t>Upload gagal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279392"/>
            <a:ext cx="7223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0">
                <a:solidFill>
                  <a:srgbClr val="263643"/>
                </a:solidFill>
                <a:latin typeface="Aptos"/>
              </a:defRPr>
            </a:pPr>
            <a:r>
              <a:t>Cek folder, izin tulis, tipe, dan ukuran 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74920"/>
            <a:ext cx="10652760" cy="868680"/>
          </a:xfrm>
          <a:prstGeom prst="roundRect">
            <a:avLst>
              <a:gd name="adj" fmla="val 12000"/>
            </a:avLst>
          </a:prstGeom>
          <a:solidFill>
            <a:srgbClr val="F9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10149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200" b="1">
                <a:solidFill>
                  <a:srgbClr val="263643"/>
                </a:solidFill>
                <a:latin typeface="Aptos"/>
              </a:defRPr>
            </a:pPr>
            <a:r>
              <a:t>Keamanan: debug=True hanya untuk pengembangan; jangan bagikan .env; validasi di server; lindungi form dengan CSRF; backup dan uji pemulihan database.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9875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100" b="1">
                <a:solidFill>
                  <a:srgbClr val="D6F0EC"/>
                </a:solidFill>
                <a:latin typeface="Aptos"/>
              </a:defRPr>
            </a:pPr>
            <a:r>
              <a:t>RINGKASAN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Bangun berurutan. Uji setiap lapisan.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9966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700" b="0">
                <a:solidFill>
                  <a:srgbClr val="D3E1E8"/>
                </a:solidFill>
                <a:latin typeface="Aptos"/>
              </a:defRPr>
            </a:pPr>
            <a:r>
              <a:t>Database → konfigurasi → model → aplikasi → autentikasi → fitur bisnis → antarmuka → pengujian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94360" cy="393192"/>
          </a:xfrm>
          <a:prstGeom prst="roundRect">
            <a:avLst>
              <a:gd name="adj" fmla="val 12000"/>
            </a:avLst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328415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300984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Cocokkan kode dengan dokumentasi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67911"/>
            <a:ext cx="594360" cy="393192"/>
          </a:xfrm>
          <a:prstGeom prst="roundRect">
            <a:avLst>
              <a:gd name="adj" fmla="val 12000"/>
            </a:avLst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950207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922775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Jaga konsistensi stok dan transaksi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9704"/>
            <a:ext cx="594360" cy="393192"/>
          </a:xfrm>
          <a:prstGeom prst="roundRect">
            <a:avLst>
              <a:gd name="adj" fmla="val 12000"/>
            </a:avLst>
          </a:prstGeom>
          <a:solidFill>
            <a:srgbClr val="1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57200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544568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Tegakkan role di sisi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11496"/>
            <a:ext cx="594360" cy="393192"/>
          </a:xfrm>
          <a:prstGeom prst="roundRect">
            <a:avLst>
              <a:gd name="adj" fmla="val 12000"/>
            </a:avLst>
          </a:prstGeom>
          <a:solidFill>
            <a:srgbClr val="DA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193792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59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Jangan bocorkan rahasia konfigurasi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defRPr sz="900" b="0">
                <a:solidFill>
                  <a:srgbClr val="B2C5D1"/>
                </a:solidFill>
                <a:latin typeface="Aptos"/>
              </a:defRPr>
            </a:pPr>
            <a:r>
              <a:t>Perpus STIKOM  •  Panduan pembuatan berbasis dokumentasi teknis v6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Pembuatan Perpus STIKOM</dc:title>
  <dc:subject>Presentasi langkah pembuatan aplikasi Flask dan MySQL berdasarkan dokumentasi teknis v6</dc:subject>
  <dc:creator>OpenAI</dc:creator>
  <cp:keywords>Perpus STIKOM, Flask, MySQL, tutorial, rekonstruksi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